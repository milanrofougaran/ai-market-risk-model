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7B8A9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8A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5D7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8A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B8A9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B8A9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5D7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F5D7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F5D77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HY credit spread (312 bps)</c:v>
                  </c:pt>
                  <c:pt idx="1">
                    <c:v>Corp debt / GDP</c:v>
                  </c:pt>
                  <c:pt idx="2">
                    <c:v>VIX 24</c:v>
                  </c:pt>
                  <c:pt idx="3">
                    <c:v>Fed net liquidity</c:v>
                  </c:pt>
                  <c:pt idx="4">
                    <c:v>Oil / geopolitical</c:v>
                  </c:pt>
                  <c:pt idx="5">
                    <c:v>CAPE 39.4</c:v>
                  </c:pt>
                  <c:pt idx="6">
                    <c:v>Real 10y 2.25%</c:v>
                  </c:pt>
                  <c:pt idx="7">
                    <c:v>Margin debt +45% YoY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0.02</c:v>
                </c:pt>
                <c:pt idx="1">
                  <c:v>0.15</c:v>
                </c:pt>
                <c:pt idx="2">
                  <c:v>0.39</c:v>
                </c:pt>
                <c:pt idx="3">
                  <c:v>0.44</c:v>
                </c:pt>
                <c:pt idx="4">
                  <c:v>0.52</c:v>
                </c:pt>
                <c:pt idx="5">
                  <c:v>0.73</c:v>
                </c:pt>
                <c:pt idx="6">
                  <c:v>0.85</c:v>
                </c:pt>
                <c:pt idx="7">
                  <c:v>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32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8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8ED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8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Benign</c:v>
                </c:pt>
              </c:strCache>
            </c:strRef>
          </c:tx>
          <c:spPr>
            <a:solidFill>
              <a:srgbClr val="BFD9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6m</c:v>
                  </c:pt>
                  <c:pt idx="1">
                    <c:v>12m</c:v>
                  </c:pt>
                  <c:pt idx="2">
                    <c:v>18m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38</c:v>
                </c:pt>
                <c:pt idx="2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Correction</c:v>
                </c:pt>
              </c:strCache>
            </c:strRef>
          </c:tx>
          <c:spPr>
            <a:solidFill>
              <a:srgbClr val="8FA6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6m</c:v>
                  </c:pt>
                  <c:pt idx="1">
                    <c:v>12m</c:v>
                  </c:pt>
                  <c:pt idx="2">
                    <c:v>18m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</c:v>
                </c:pt>
                <c:pt idx="1">
                  <c:v>40</c:v>
                </c:pt>
                <c:pt idx="2">
                  <c:v>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Bear</c:v>
                </c:pt>
              </c:strCache>
            </c:strRef>
          </c:tx>
          <c:spPr>
            <a:solidFill>
              <a:srgbClr val="CC92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6m</c:v>
                  </c:pt>
                  <c:pt idx="1">
                    <c:v>12m</c:v>
                  </c:pt>
                  <c:pt idx="2">
                    <c:v>18m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11</c:v>
                </c:pt>
                <c:pt idx="1">
                  <c:v>16</c:v>
                </c:pt>
                <c:pt idx="2">
                  <c:v>20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Systemic</c:v>
                </c:pt>
              </c:strCache>
            </c:strRef>
          </c:tx>
          <c:spPr>
            <a:solidFill>
              <a:srgbClr val="9E2B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6m</c:v>
                  </c:pt>
                  <c:pt idx="1">
                    <c:v>12m</c:v>
                  </c:pt>
                  <c:pt idx="2">
                    <c:v>18m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658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8ED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8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6586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months to recover</c:v>
                </c:pt>
              </c:strCache>
            </c:strRef>
          </c:tx>
          <c:spPr>
            <a:solidFill>
              <a:srgbClr val="D98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3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859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5C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E3D4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E2B3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Defensive (dep 0.35)</c:v>
                  </c:pt>
                  <c:pt idx="1">
                    <c:v>Disruptive (dep 0.65)</c:v>
                  </c:pt>
                  <c:pt idx="2">
                    <c:v>AI-platform (dep 0.80)</c:v>
                  </c:pt>
                  <c:pt idx="3">
                    <c:v>AI-infra — keystone (dep 1.00)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52</c:v>
                </c:pt>
                <c:pt idx="2">
                  <c:v>57</c:v>
                </c:pt>
                <c:pt idx="3">
                  <c:v>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32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658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b"/>
        <c:majorGridlines>
          <c:spPr>
            <a:ln w="6350" cap="flat">
              <a:solidFill>
                <a:srgbClr val="E8ED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8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freeze severity</c:v>
                </c:pt>
              </c:strCache>
            </c:strRef>
          </c:tx>
          <c:spPr>
            <a:solidFill>
              <a:srgbClr val="9E2B3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E2B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89A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6B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2008 — liquidity draining</c:v>
                  </c:pt>
                  <c:pt idx="1">
                    <c:v>2020 — central-bank flood</c:v>
                  </c:pt>
                  <c:pt idx="2">
                    <c:v>Today — calm credit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0.71</c:v>
                </c:pt>
                <c:pt idx="1">
                  <c:v>0.12</c:v>
                </c:pt>
                <c:pt idx="2">
                  <c:v>0.02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32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658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</c:scaling>
        <c:delete val="0"/>
        <c:axPos val="l"/>
        <c:majorGridlines>
          <c:spPr>
            <a:ln w="6350" cap="flat">
              <a:solidFill>
                <a:srgbClr val="E8ED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8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(avg business)</c:v>
                </c:pt>
              </c:strCache>
            </c:strRef>
          </c:tx>
          <c:spPr>
            <a:solidFill>
              <a:srgbClr val="5B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Speculative name</c:v>
                  </c:pt>
                  <c:pt idx="1">
                    <c:v>Average business</c:v>
                  </c:pt>
                  <c:pt idx="2">
                    <c:v>Secular leader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justified premium (earned)</c:v>
                </c:pt>
              </c:strCache>
            </c:strRef>
          </c:tx>
          <c:spPr>
            <a:solidFill>
              <a:srgbClr val="CC92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Speculative name</c:v>
                  </c:pt>
                  <c:pt idx="1">
                    <c:v>Average business</c:v>
                  </c:pt>
                  <c:pt idx="2">
                    <c:v>Secular leader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</c:v>
                </c:pt>
                <c:pt idx="1">
                  <c:v>0.6</c:v>
                </c:pt>
                <c:pt idx="2">
                  <c:v>2.5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unsupported float (fragile)</c:v>
                </c:pt>
              </c:strCache>
            </c:strRef>
          </c:tx>
          <c:spPr>
            <a:solidFill>
              <a:srgbClr val="9E2B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Speculative name</c:v>
                  </c:pt>
                  <c:pt idx="1">
                    <c:v>Average business</c:v>
                  </c:pt>
                  <c:pt idx="2">
                    <c:v>Secular leader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2.5</c:v>
                </c:pt>
                <c:pt idx="1">
                  <c:v>0.3</c:v>
                </c:pt>
                <c:pt idx="2">
                  <c:v>0.45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658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6586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years to earn back the multiple at crash growth</c:v>
                </c:pt>
              </c:strCache>
            </c:strRef>
          </c:tx>
          <c:spPr>
            <a:solidFill>
              <a:srgbClr val="2C7A5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3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7A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C92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7A5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C923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C923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C7A5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C923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C923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E2B3C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NVIDIA — secular</c:v>
                  </c:pt>
                  <c:pt idx="1">
                    <c:v>Micron — cyclical</c:v>
                  </c:pt>
                  <c:pt idx="2">
                    <c:v>Astera Labs — secular</c:v>
                  </c:pt>
                  <c:pt idx="3">
                    <c:v>DRAM ETF — cyclical</c:v>
                  </c:pt>
                  <c:pt idx="4">
                    <c:v>AMD — cyclical</c:v>
                  </c:pt>
                  <c:pt idx="5">
                    <c:v>Palantir — secular</c:v>
                  </c:pt>
                  <c:pt idx="6">
                    <c:v>Lumentum — cyclical</c:v>
                  </c:pt>
                  <c:pt idx="7">
                    <c:v>Appl. Opto — cyclical</c:v>
                  </c:pt>
                  <c:pt idx="8">
                    <c:v>ARKK — broken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0.4</c:v>
                </c:pt>
                <c:pt idx="2">
                  <c:v>1.3</c:v>
                </c:pt>
                <c:pt idx="3">
                  <c:v>1.5</c:v>
                </c:pt>
                <c:pt idx="4">
                  <c:v>1.6</c:v>
                </c:pt>
                <c:pt idx="5">
                  <c:v>2.1</c:v>
                </c:pt>
                <c:pt idx="6">
                  <c:v>3.3</c:v>
                </c:pt>
                <c:pt idx="7">
                  <c:v>5.1</c:v>
                </c:pt>
                <c:pt idx="8">
                  <c:v>7.9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50" u="none">
                  <a:solidFill>
                    <a:srgbClr val="132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8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</c:scaling>
        <c:delete val="0"/>
        <c:axPos val="b"/>
        <c:majorGridlines>
          <c:spPr>
            <a:ln w="6350" cap="flat">
              <a:solidFill>
                <a:srgbClr val="E8ED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8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NVIDIA — secular</c:v>
                </c:pt>
              </c:strCache>
            </c:strRef>
          </c:tx>
          <c:spPr>
            <a:solidFill>
              <a:srgbClr val="2C7A55"/>
            </a:solidFill>
            <a:ln w="38100" cap="flat">
              <a:solidFill>
                <a:srgbClr val="2C7A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C7A55"/>
              </a:solidFill>
              <a:ln w="9525" cap="flat">
                <a:solidFill>
                  <a:srgbClr val="2C7A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6m</c:v>
                  </c:pt>
                  <c:pt idx="2">
                    <c:v>12m</c:v>
                  </c:pt>
                  <c:pt idx="3">
                    <c:v>18m</c:v>
                  </c:pt>
                  <c:pt idx="4">
                    <c:v>24m</c:v>
                  </c:pt>
                  <c:pt idx="5">
                    <c:v>36m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16</c:v>
                </c:pt>
                <c:pt idx="2">
                  <c:v>30</c:v>
                </c:pt>
                <c:pt idx="3">
                  <c:v>41</c:v>
                </c:pt>
                <c:pt idx="4">
                  <c:v>48</c:v>
                </c:pt>
                <c:pt idx="5">
                  <c:v>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Micron — memory cyclical</c:v>
                </c:pt>
              </c:strCache>
            </c:strRef>
          </c:tx>
          <c:spPr>
            <a:solidFill>
              <a:srgbClr val="CC9234"/>
            </a:solidFill>
            <a:ln w="38100" cap="flat">
              <a:solidFill>
                <a:srgbClr val="CC92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C9234"/>
              </a:solidFill>
              <a:ln w="9525" cap="flat">
                <a:solidFill>
                  <a:srgbClr val="CC92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6m</c:v>
                  </c:pt>
                  <c:pt idx="2">
                    <c:v>12m</c:v>
                  </c:pt>
                  <c:pt idx="3">
                    <c:v>18m</c:v>
                  </c:pt>
                  <c:pt idx="4">
                    <c:v>24m</c:v>
                  </c:pt>
                  <c:pt idx="5">
                    <c:v>36m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39</c:v>
                </c:pt>
                <c:pt idx="4">
                  <c:v>46</c:v>
                </c:pt>
                <c:pt idx="5">
                  <c:v>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IonQ — broken</c:v>
                </c:pt>
              </c:strCache>
            </c:strRef>
          </c:tx>
          <c:spPr>
            <a:solidFill>
              <a:srgbClr val="9E2B3C"/>
            </a:solidFill>
            <a:ln w="38100" cap="flat">
              <a:solidFill>
                <a:srgbClr val="9E2B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9E2B3C"/>
              </a:solidFill>
              <a:ln w="9525" cap="flat">
                <a:solidFill>
                  <a:srgbClr val="9E2B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6m</c:v>
                  </c:pt>
                  <c:pt idx="2">
                    <c:v>12m</c:v>
                  </c:pt>
                  <c:pt idx="3">
                    <c:v>18m</c:v>
                  </c:pt>
                  <c:pt idx="4">
                    <c:v>24m</c:v>
                  </c:pt>
                  <c:pt idx="5">
                    <c:v>36m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9</c:v>
                </c:pt>
                <c:pt idx="2">
                  <c:v>18</c:v>
                </c:pt>
                <c:pt idx="3">
                  <c:v>26</c:v>
                </c:pt>
                <c:pt idx="4">
                  <c:v>30</c:v>
                </c:pt>
                <c:pt idx="5">
                  <c:v>37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658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E8ED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8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6586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Realized fall</c:v>
                </c:pt>
              </c:strCache>
            </c:strRef>
          </c:tx>
          <c:spPr>
            <a:solidFill>
              <a:srgbClr val="1320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658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2000</c:v>
                  </c:pt>
                  <c:pt idx="1">
                    <c:v>2007</c:v>
                  </c:pt>
                  <c:pt idx="2">
                    <c:v>2011</c:v>
                  </c:pt>
                  <c:pt idx="3">
                    <c:v>2015-16</c:v>
                  </c:pt>
                  <c:pt idx="4">
                    <c:v>2018 Q4</c:v>
                  </c:pt>
                  <c:pt idx="5">
                    <c:v>2020</c:v>
                  </c:pt>
                  <c:pt idx="6">
                    <c:v>2022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49</c:v>
                </c:pt>
                <c:pt idx="1">
                  <c:v>57</c:v>
                </c:pt>
                <c:pt idx="2">
                  <c:v>19</c:v>
                </c:pt>
                <c:pt idx="3">
                  <c:v>14</c:v>
                </c:pt>
                <c:pt idx="4">
                  <c:v>20</c:v>
                </c:pt>
                <c:pt idx="5">
                  <c:v>34</c:v>
                </c:pt>
                <c:pt idx="6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Simulated p90 tail</c:v>
                </c:pt>
              </c:strCache>
            </c:strRef>
          </c:tx>
          <c:spPr>
            <a:solidFill>
              <a:srgbClr val="D985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658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2000</c:v>
                  </c:pt>
                  <c:pt idx="1">
                    <c:v>2007</c:v>
                  </c:pt>
                  <c:pt idx="2">
                    <c:v>2011</c:v>
                  </c:pt>
                  <c:pt idx="3">
                    <c:v>2015-16</c:v>
                  </c:pt>
                  <c:pt idx="4">
                    <c:v>2018 Q4</c:v>
                  </c:pt>
                  <c:pt idx="5">
                    <c:v>2020</c:v>
                  </c:pt>
                  <c:pt idx="6">
                    <c:v>2022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70</c:v>
                </c:pt>
                <c:pt idx="1">
                  <c:v>64</c:v>
                </c:pt>
                <c:pt idx="2">
                  <c:v>65</c:v>
                </c:pt>
                <c:pt idx="3">
                  <c:v>63</c:v>
                </c:pt>
                <c:pt idx="4">
                  <c:v>64</c:v>
                </c:pt>
                <c:pt idx="5">
                  <c:v>63</c:v>
                </c:pt>
                <c:pt idx="6">
                  <c:v>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6586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658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E8ED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8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6586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in one breath: macro envelope first; depth and recovery are different questions; the growth premium is real and measurable. Everything on the following slides is from the 2026-06-05 run, independently audited 2026-06-10.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commitments: macro-first ordering, a respected growth premium, and the strict separation of depth from recovery. The stats row: scale, verification,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organizing idea. The engineer's framing: signal inside an envelope. The model computes the envelope before looking at a single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input is scored 0-1 against documented bands; group means give structural 0.583 and acute 0.246; composite 0.50s+0.30a+0.20max = 0.482. The fragility is structural, not acute — powder dry, no match 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Four-state chain. The stacked column is the actual current regime distribution; each column verified to sum to 1. The systemic row is derived, not hand-set.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'All layers, but unevenly' — the literal meaning of systemic. Dependency multiplies the freeze window: infra 1.00 down to defensive 0.35. Calibration check: ~62 vs ~66 realized.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historical lesson encoded as a formula. 30×(0.40+0.60×0.714)=24.9 months — the model's 2008. The same arithmetic gives 2020 ~14 months: the flood breaks the freeze.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Cap/GDP treats the market as one undifferentiated asset against one frozen line. We replace the aggregate question with a per-name decomposition on a rates-aware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real-estate analogy is the heart of the TAM pillar. The stacked bars are the decomposition: only the red float deflates as fragility; the amber earned slice is the ocean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T_earn = ln(PE/PE_fair)/ln(1+g·kappa). NVIDIA's multiple is already supported at crash growth. IonQ has the highest growth in the universe and still earns back never — that is the model refusing to reward an unproven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orthogonality principle that holds the model together — and the axis assignment is never crossed: nothing about quality appears in the depth equation, nothing about beta in the recovery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P(reclaimed prior peak) vs months since the fall. Micron's flat-then-steep shape is the demand-rebound picture, not a slow version of NVIDIA's curve — different mechanism, modeled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rule: secular — rank by reward and take the top; cyclical — high reward WITH a survivable tail, fat tail = demotion toward broken; broken — don't rank, avoid.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Drawdown magnitudes shown as positive %. The honest framing: documented historical inputs test the machinery — this is mechanism validation, not foresight. 2008 sits deepest in the band, exactly where a true tail should.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trust: verification (the engine is right) plus validation (it behaves against history) plus honesty (what it cannot promise). Findings disclosed in the full report: unify the two tail definitions; never quote light-mode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gs/fig_envelop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880360"/>
            <a:ext cx="9144000" cy="22585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RISK METHODOLOGY  ·  RESEARCH MODEL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4124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Systemic &amp; TAM Risk Model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181051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C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macro envelope first. Then ask two separate questions of every name: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EC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deep can it fall — and does it come back.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542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names — stocks · ETFs · leveraged      </a:t>
            </a:r>
            <a:pPr indent="0" marL="0">
              <a:buNone/>
            </a:pPr>
            <a:r>
              <a:rPr lang="en-US" sz="1150" dirty="0">
                <a:solidFill>
                  <a:srgbClr val="C9D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150,000-path regime-switching Monte Carlo      </a:t>
            </a:r>
            <a:pPr indent="0" marL="0">
              <a:buNone/>
            </a:pPr>
            <a:r>
              <a:rPr lang="en-US" sz="1150" b="1" dirty="0">
                <a:solidFill>
                  <a:srgbClr val="1B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102/102 tests · 7/7 backtest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IN ONE SLIDE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commitments, one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97480" cy="2011680"/>
          </a:xfrm>
          <a:prstGeom prst="roundRect">
            <a:avLst>
              <a:gd name="adj" fmla="val 3182"/>
            </a:avLst>
          </a:prstGeom>
          <a:solidFill>
            <a:srgbClr val="E2EEF2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27632"/>
            <a:ext cx="310896" cy="310896"/>
          </a:xfrm>
          <a:prstGeom prst="ellipse">
            <a:avLst/>
          </a:prstGeom>
          <a:solidFill>
            <a:srgbClr val="0F5D77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" y="16276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first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4088" y="2066544"/>
            <a:ext cx="23042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macro economy is the envelope every market lives inside. It is computed before any company — it sets crisis odds, correlation, and the freeze.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56432" y="1417320"/>
            <a:ext cx="2697480" cy="2011680"/>
          </a:xfrm>
          <a:prstGeom prst="roundRect">
            <a:avLst>
              <a:gd name="adj" fmla="val 3182"/>
            </a:avLst>
          </a:prstGeom>
          <a:solidFill>
            <a:srgbClr val="F7ECD7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0" y="1627632"/>
            <a:ext cx="310896" cy="310896"/>
          </a:xfrm>
          <a:prstGeom prst="ellipse">
            <a:avLst/>
          </a:prstGeom>
          <a:solidFill>
            <a:srgbClr val="A86E16"/>
          </a:solidFill>
          <a:ln/>
        </p:spPr>
      </p:sp>
      <p:sp>
        <p:nvSpPr>
          <p:cNvPr id="10" name="Text 8"/>
          <p:cNvSpPr/>
          <p:nvPr/>
        </p:nvSpPr>
        <p:spPr>
          <a:xfrm>
            <a:off x="4078224" y="16276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premium is real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657600" y="2066544"/>
            <a:ext cx="23042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Large, durable TAM earns a higher multiple — like the ocean view in real estate. Only the unsupported float above it is fragility.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9944" y="1417320"/>
            <a:ext cx="2697480" cy="2011680"/>
          </a:xfrm>
          <a:prstGeom prst="roundRect">
            <a:avLst>
              <a:gd name="adj" fmla="val 3182"/>
            </a:avLst>
          </a:prstGeom>
          <a:solidFill>
            <a:srgbClr val="E3F0E9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11112" y="1627632"/>
            <a:ext cx="310896" cy="310896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14" name="Text 12"/>
          <p:cNvSpPr/>
          <p:nvPr/>
        </p:nvSpPr>
        <p:spPr>
          <a:xfrm>
            <a:off x="7031736" y="16276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≠ recovery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611112" y="2066544"/>
            <a:ext cx="23042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and crisis correlation set how far a name falls. TAM, growth, cycle, and balance sheet set whether it climbs back. Never crossed.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76732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150k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02920" y="43159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7-year futures per run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56432" y="376732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102/102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456432" y="43159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 tests · zero violations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9944" y="376732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E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409944" y="43159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crashes inside the band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model — not investment advice · 2026-06-05 snapshot · engine audited 2026-06-10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MACRO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envelope contains every market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Sub-markets are the signal; the macro economy is the boundary curve. </a:t>
            </a:r>
            <a:pPr indent="0" marL="0">
              <a:buNone/>
            </a:pPr>
            <a:r>
              <a:rPr lang="en-US" sz="140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Growth, rates, liquidity, credit, and leverage set the ceiling and floor that contain all individual motion.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envelope itself collapses, it presses </a:t>
            </a:r>
            <a:pPr indent="0" marL="0">
              <a:buNone/>
            </a:pPr>
            <a:r>
              <a:rPr lang="en-US" sz="1400" b="1" i="1" dirty="0">
                <a:solidFill>
                  <a:srgbClr val="9E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pPr indent="0" marL="0">
              <a:buNone/>
            </a:pPr>
            <a:r>
              <a:rPr lang="en-US" sz="140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markets down together — no individual quality protects a name from a broken envelope. So the first question is never “is this stock good?” It is “what is the envelope doing?”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26280" y="1371600"/>
            <a:ext cx="4160520" cy="3154680"/>
          </a:xfrm>
          <a:prstGeom prst="roundRect">
            <a:avLst>
              <a:gd name="adj" fmla="val 2029"/>
            </a:avLst>
          </a:prstGeom>
          <a:solidFill>
            <a:srgbClr val="F2F6F8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7" name="Image 0" descr="figs/fig_envel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1828800"/>
            <a:ext cx="3840480" cy="10753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81728" y="3154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envelope: names move on their own stories.  Crushed envelope: everything falls together.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model — not investment advice · 2026-06-05 snapshot · engine audited 2026-06-10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ENVELOPE, MEASURED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stress today: dry powder, no lit match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98448"/>
          <a:ext cx="51206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5371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structural (slow-burn)   </a:t>
            </a:r>
            <a:pPr indent="0" marL="0">
              <a:buNone/>
            </a:pPr>
            <a:r>
              <a:rPr lang="en-US" sz="1000" b="1" dirty="0">
                <a:solidFill>
                  <a:srgbClr val="7B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acute (trigger)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806440" y="1298448"/>
            <a:ext cx="2880360" cy="1481328"/>
          </a:xfrm>
          <a:prstGeom prst="roundRect">
            <a:avLst>
              <a:gd name="adj" fmla="val 4321"/>
            </a:avLst>
          </a:prstGeom>
          <a:solidFill>
            <a:srgbClr val="E2EEF2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06440" y="148132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/ 100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806440" y="20299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stress — watch zone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2944368"/>
            <a:ext cx="2880360" cy="1600200"/>
          </a:xfrm>
          <a:prstGeom prst="roundRect">
            <a:avLst>
              <a:gd name="adj" fmla="val 4000"/>
            </a:avLst>
          </a:prstGeom>
          <a:solidFill>
            <a:srgbClr val="F2F6F8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89320" y="3127248"/>
            <a:ext cx="2542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6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58</a:t>
            </a:r>
            <a:pPr indent="0" marL="0">
              <a:buNone/>
            </a:pPr>
            <a:r>
              <a:rPr lang="en-US" sz="11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elevated: valuation, leverage, real rates widen the tail.
</a:t>
            </a:r>
            <a:pPr indent="0" marL="0">
              <a:buNone/>
            </a:pPr>
            <a:r>
              <a:rPr lang="en-US" sz="1150" b="1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 25</a:t>
            </a:r>
            <a:pPr indent="0" marL="0">
              <a:buNone/>
            </a:pPr>
            <a:r>
              <a:rPr lang="en-US" sz="11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dormant: credit and vol are calm. Crisis odds scale ×0.99 today.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model — not investment advice · 2026-06-05 snapshot · engine audited 2026-06-10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tilts the odds — not the outcome</a:t>
            </a:r>
            <a:endParaRPr lang="en-US" sz="3000" dirty="0"/>
          </a:p>
        </p:txBody>
      </p:sp>
      <p:pic>
        <p:nvPicPr>
          <p:cNvPr id="4" name="Image 0" descr="figs/fig_regi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663440" cy="19026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4290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 stress raises crisis entry; structural stress raises grind entry. Correlations rise toward 0.92 in crisis — diversification fades exactly when the envelope breaks.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349240" y="1371600"/>
          <a:ext cx="34290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394960" y="426110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sum to 100%. The systemic tail (3→6→9%) is derived from “5 episodes in 97 years” via a hazard transform, scaled by live stress.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model — not investment advice · 2026-06-05 snapshot · engine audited 2026-06-10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DOMINANT RISK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systemic collapse freezes all layers — unevenly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a ~55% broad-market collapse, the plumbing seizes: recovery is suspended market-wide, scaled by each layer’s dependence on the frozen keystone (AI-infra).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874520"/>
          <a:ext cx="55778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49884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to recover on a 2008-state path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263640" y="1874520"/>
            <a:ext cx="2423160" cy="2606040"/>
          </a:xfrm>
          <a:prstGeom prst="roundRect">
            <a:avLst>
              <a:gd name="adj" fmla="val 2642"/>
            </a:avLst>
          </a:prstGeom>
          <a:solidFill>
            <a:srgbClr val="F4E3E5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63640" y="21488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E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~62 mo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263640" y="2697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keystone recovery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46520" y="3154680"/>
            <a:ext cx="20756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the S&amp;P’s real ~66 months to reclaim its 2007 peak — the freeze layer reproduces history’s shape, and is dormant today (severity 0.02).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model — not investment advice · 2026-06-05 snapshot · engine audited 2026-06-10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 VS 2020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Panic doesn’t freeze a system — the liquidity response decides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417320"/>
          <a:ext cx="48463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1417320"/>
            <a:ext cx="3063240" cy="1828800"/>
          </a:xfrm>
          <a:prstGeom prst="roundRect">
            <a:avLst>
              <a:gd name="adj" fmla="val 3500"/>
            </a:avLst>
          </a:prstGeom>
          <a:solidFill>
            <a:srgbClr val="F2F6F8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06440" y="1600200"/>
            <a:ext cx="2697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2008:</a:t>
            </a:r>
            <a:pPr indent="0" marL="0">
              <a:buNone/>
            </a:pPr>
            <a:r>
              <a:rPr lang="en-US" sz="120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sev 0.71 → ~25-month freeze
</a:t>
            </a:r>
            <a:pPr indent="0" marL="0">
              <a:buNone/>
            </a:pPr>
            <a:r>
              <a:rPr lang="en-US" sz="1200" b="1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2020:</a:t>
            </a:r>
            <a:pPr indent="0" marL="0">
              <a:buNone/>
            </a:pPr>
            <a:r>
              <a:rPr lang="en-US" sz="120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sev 0.12 → ~14 months — averted
</a:t>
            </a:r>
            <a:pPr indent="0" marL="0">
              <a:buNone/>
            </a:pPr>
            <a:r>
              <a:rPr lang="en-US" sz="12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panic, opposite outcome:</a:t>
            </a:r>
            <a:pPr indent="0" marL="0">
              <a:buNone/>
            </a:pPr>
            <a:r>
              <a:rPr lang="en-US" sz="120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gate falls as Fed liquidity floods.</a:t>
            </a:r>
            <a:endParaRPr lang="en-US" sz="1200" dirty="0"/>
          </a:p>
        </p:txBody>
      </p:sp>
      <p:pic>
        <p:nvPicPr>
          <p:cNvPr id="7" name="Image 0" descr="figs/eq_freez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24528"/>
            <a:ext cx="7680960" cy="4186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459028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= panic × liquidity gate;  duration = 30 mo × (0.40 + 0.60·sev) × dependency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model — not investment advice · 2026-06-05 snapshot · engine audited 2026-06-10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AGGREGATE FALLACY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reject the Buffett indicator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200400"/>
          </a:xfrm>
          <a:prstGeom prst="roundRect">
            <a:avLst>
              <a:gd name="adj" fmla="val 2000"/>
            </a:avLst>
          </a:prstGeom>
          <a:solidFill>
            <a:srgbClr val="F4E3E5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over the whole market ignores: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— today’s index is high-margin, capital-light growth, not 1970s heavy industry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— valuation is rate-dependent; the ratio has no rates term at all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Globalization — global earnings divided by domestic GDP, a widening mismatch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record — “overvalued” for a decade while the market compounded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977640" cy="3200400"/>
          </a:xfrm>
          <a:prstGeom prst="roundRect">
            <a:avLst>
              <a:gd name="adj" fmla="val 2000"/>
            </a:avLst>
          </a:prstGeom>
          <a:solidFill>
            <a:srgbClr val="E2EEF2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model does instead: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938528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 each name: rates-aware base + justified premium + unsupported float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float is fragility — the earned premium is value, not sin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fair multiple moves with real rates: 15.8× today, 18× at 1.5%, ~24.6× in 2020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Falsifiable: every band and constant is documented and recomputes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model — not investment advice · 2026-06-05 snapshot · engine audited 2026-06-10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AND DEMAND FOR GROWTH — THE OCEAN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growth premium is real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prices every house at the city average and calls the waterfront “overpriced.” Scarce, durable growth earns its premium the same way — and the model decomposes it instead of punishing it.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920240"/>
          <a:ext cx="82296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4348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headline “expensive,” opposite fragility: the secular leader is mostly earned premium with a thin float; the speculative name is mostly float. They cannot be modeled the same way.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model — not investment advice · 2026-06-05 snapshot · engine audited 2026-06-10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PREMIUM, TESTED THROUGH 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earn-back clock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371600"/>
          <a:ext cx="56235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371600"/>
            <a:ext cx="2377440" cy="1737360"/>
          </a:xfrm>
          <a:prstGeom prst="roundRect">
            <a:avLst>
              <a:gd name="adj" fmla="val 3684"/>
            </a:avLst>
          </a:prstGeom>
          <a:solidFill>
            <a:srgbClr val="F4E3E5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09360" y="14813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E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73952" y="2121408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CoreWeave · IonQ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grow into the multiple on crash-surviving growth — the quantitative content of “broken / watch.”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89320" y="34015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ln( PE / PE_fair ) / ln( 1 + g·κ 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97880" y="37307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 — what growth survives a crash:  secular ×1.05 · cyclical ×0.78 · broken ×0.50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model — not investment advice · 2026-06-05 snapshot · engine audited 2026-06-10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and recovery are different questions</a:t>
            </a:r>
            <a:endParaRPr lang="en-US" sz="3000" dirty="0"/>
          </a:p>
        </p:txBody>
      </p:sp>
      <p:pic>
        <p:nvPicPr>
          <p:cNvPr id="4" name="Image 0" descr="figs/fig_quadr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120640" cy="21404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463040"/>
            <a:ext cx="2651760" cy="2926080"/>
          </a:xfrm>
          <a:prstGeom prst="roundRect">
            <a:avLst>
              <a:gd name="adj" fmla="val 2414"/>
            </a:avLst>
          </a:prstGeom>
          <a:solidFill>
            <a:srgbClr val="F2F6F8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36208" y="1664208"/>
            <a:ext cx="22494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is market-driven.
</a:t>
            </a:r>
            <a:pPr indent="0" marL="0">
              <a:buNone/>
            </a:pPr>
            <a:r>
              <a:rPr lang="en-US" sz="11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and crisis correlation — the envelope — set how far a name falls.
</a:t>
            </a:r>
            <a:pPr indent="0" marL="0">
              <a:buNone/>
            </a:pPr>
            <a:r>
              <a:rPr lang="en-US" sz="1150" b="1" dirty="0">
                <a:solidFill>
                  <a:srgbClr val="2C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is fundamental.
</a:t>
            </a:r>
            <a:pPr indent="0" marL="0">
              <a:buNone/>
            </a:pPr>
            <a:r>
              <a:rPr lang="en-US" sz="11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TAM, growth, cycle, and balance sheet set whether it climbs back.
</a:t>
            </a:r>
            <a:pPr indent="0" marL="0">
              <a:buNone/>
            </a:pPr>
            <a:r>
              <a:rPr lang="en-US" sz="1150" i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names can fall identically and have opposite futures.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model — not investment advice · 2026-06-05 snapshot · engine audited 2026-06-10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FALL, THREE FUTURES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recovery, given a &gt;25% fall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371600"/>
          <a:ext cx="55778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371600"/>
            <a:ext cx="2423160" cy="3108960"/>
          </a:xfrm>
          <a:prstGeom prst="roundRect">
            <a:avLst>
              <a:gd name="adj" fmla="val 2642"/>
            </a:avLst>
          </a:prstGeom>
          <a:solidFill>
            <a:srgbClr val="F2F6F8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46520" y="1572768"/>
            <a:ext cx="20756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Secular</a:t>
            </a:r>
            <a:pPr indent="0" marL="0">
              <a:buNone/>
            </a:pPr>
            <a:r>
              <a:rPr lang="en-US" sz="11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climbs from month one.
</a:t>
            </a:r>
            <a:pPr indent="0" marL="0">
              <a:buNone/>
            </a:pPr>
            <a:r>
              <a:rPr lang="en-US" sz="1150" b="1" dirty="0">
                <a:solidFill>
                  <a:srgbClr val="A86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Cyclical</a:t>
            </a:r>
            <a:pPr indent="0" marL="0">
              <a:buNone/>
            </a:pPr>
            <a:r>
              <a:rPr lang="en-US" sz="11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pinned at 0% for a year — an explicit demand trough (memory: 9 mo down + 6 mo stabilizing) — then catches up steeply.
</a:t>
            </a:r>
            <a:pPr indent="0" marL="0">
              <a:buNone/>
            </a:pPr>
            <a:r>
              <a:rPr lang="en-US" sz="1150" b="1" dirty="0">
                <a:solidFill>
                  <a:srgbClr val="9E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</a:t>
            </a:r>
            <a:pPr indent="0" marL="0">
              <a:buNone/>
            </a:pPr>
            <a:r>
              <a:rPr lang="en-US" sz="11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a low ceiling: most paths never reclaim the peak.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model — not investment advice · 2026-06-05 snapshot · engine audited 2026-06-10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BUCKETS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“Best” is ranked differently inside each archetype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51760" cy="2606040"/>
          </a:xfrm>
          <a:prstGeom prst="roundRect">
            <a:avLst>
              <a:gd name="adj" fmla="val 2456"/>
            </a:avLst>
          </a:prstGeom>
          <a:solidFill>
            <a:srgbClr val="E3F0E9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36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SECULAR — by reward-to-risk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938528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per unit of long-drawdown risk, S&amp;P ≡ 1.00:
</a:t>
            </a:r>
            <a:pPr indent="0" marL="0">
              <a:buNone/>
            </a:pPr>
            <a:r>
              <a:rPr lang="en-US" sz="1050" b="1" dirty="0">
                <a:solidFill>
                  <a:srgbClr val="2C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Astera 5.15 · NVIDIA 4.54 · Palantir 4.15 · Broadcom 3.64
</a:t>
            </a:r>
            <a:pPr indent="0" marL="0">
              <a:buNone/>
            </a:pPr>
            <a:r>
              <a:rPr lang="en-US" sz="10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…down to VOO 1.00, Apple 0.50 — safest, lowest-reward end of the same good bucket.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10712" y="1371600"/>
            <a:ext cx="2651760" cy="2606040"/>
          </a:xfrm>
          <a:prstGeom prst="roundRect">
            <a:avLst>
              <a:gd name="adj" fmla="val 2456"/>
            </a:avLst>
          </a:prstGeom>
          <a:solidFill>
            <a:srgbClr val="F7ECD7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93592" y="1536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6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CYCLICAL — two axes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93592" y="1938528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AND survivability (&gt;3y tail):
</a:t>
            </a:r>
            <a:pPr indent="0" marL="0">
              <a:buNone/>
            </a:pPr>
            <a:r>
              <a:rPr lang="en-US" sz="1050" b="1" dirty="0">
                <a:solidFill>
                  <a:srgbClr val="A86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Top: Micron 3.82/22% · DRAM 3.72/20% · AMD 3.54/21%
</a:t>
            </a:r>
            <a:pPr indent="0" marL="0">
              <a:buNone/>
            </a:pPr>
            <a:r>
              <a:rPr lang="en-US" sz="10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Watch: CoreWeave 2.18 but 45% tail — a cyclical that can’t fund the trough never sees the rebound.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18504" y="1371600"/>
            <a:ext cx="2651760" cy="2606040"/>
          </a:xfrm>
          <a:prstGeom prst="roundRect">
            <a:avLst>
              <a:gd name="adj" fmla="val 2456"/>
            </a:avLst>
          </a:prstGeom>
          <a:solidFill>
            <a:srgbClr val="F4E3E5"/>
          </a:solidFill>
          <a:ln w="9525">
            <a:solidFill>
              <a:srgbClr val="D7DEE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01384" y="1536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— least-bad only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01384" y="1938528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buy ranking exists here:
</a:t>
            </a:r>
            <a:pPr indent="0" marL="0">
              <a:buNone/>
            </a:pPr>
            <a:r>
              <a:rPr lang="en-US" sz="1050" b="1" dirty="0">
                <a:solidFill>
                  <a:srgbClr val="9E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QTUM → ARKK → IonQ (worst)
</a:t>
            </a:r>
            <a:pPr indent="0" marL="0">
              <a:buNone/>
            </a:pPr>
            <a:r>
              <a:rPr lang="en-US" sz="1050" dirty="0">
                <a:solidFill>
                  <a:srgbClr val="334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IonQ carries the universe’s highest growth (80%) and still ranks last — the model refuses to reward an unproven thesis.</a:t>
            </a:r>
            <a:endParaRPr lang="en-US" sz="1050" dirty="0"/>
          </a:p>
        </p:txBody>
      </p:sp>
      <p:pic>
        <p:nvPicPr>
          <p:cNvPr id="13" name="Image 0" descr="figs/eq_vss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4160520"/>
            <a:ext cx="2743200" cy="36950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257800" y="42611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reward metric — verified exact, all names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model — not investment advice · 2026-06-05 snapshot · engine audited 2026-06-10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5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— DEPTH INSIDE THE BAND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crises, seven captures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371600"/>
          <a:ext cx="82296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38912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dial set to each crisis eve; nothing else touched. Every realized fall (ink) lands inside the simulated tail (rose). Validates stress→depth; recovery timing is calibrated separately (freeze: ~62 vs ~66 mo for 2008).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model — not investment advice · 2026-06-05 snapshot · engine audited 2026-06-10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8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· 2026-06-10 INDEPENDENT AUDIT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computes what it claims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993392" cy="1417320"/>
          </a:xfrm>
          <a:prstGeom prst="roundRect">
            <a:avLst>
              <a:gd name="adj" fmla="val 4516"/>
            </a:avLst>
          </a:prstGeom>
          <a:solidFill>
            <a:srgbClr val="1B2C3A"/>
          </a:solidFill>
          <a:ln w="9525">
            <a:solidFill>
              <a:srgbClr val="2A3B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7276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102/102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12648" y="210312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C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 tests pass on fresh artifacts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79192" y="1417320"/>
            <a:ext cx="1993392" cy="1417320"/>
          </a:xfrm>
          <a:prstGeom prst="roundRect">
            <a:avLst>
              <a:gd name="adj" fmla="val 4516"/>
            </a:avLst>
          </a:prstGeom>
          <a:solidFill>
            <a:srgbClr val="1B2C3A"/>
          </a:solidFill>
          <a:ln w="9525">
            <a:solidFill>
              <a:srgbClr val="2A3B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9192" y="157276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88920" y="210312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C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 — bounds, monotonicity, complements, 47 names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55464" y="1417320"/>
            <a:ext cx="1993392" cy="1417320"/>
          </a:xfrm>
          <a:prstGeom prst="roundRect">
            <a:avLst>
              <a:gd name="adj" fmla="val 4516"/>
            </a:avLst>
          </a:prstGeom>
          <a:solidFill>
            <a:srgbClr val="1B2C3A"/>
          </a:solidFill>
          <a:ln w="9525">
            <a:solidFill>
              <a:srgbClr val="2A3B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5464" y="157276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F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bit-identical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65192" y="210312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C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identical runs hash the same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31736" y="1417320"/>
            <a:ext cx="1993392" cy="1417320"/>
          </a:xfrm>
          <a:prstGeom prst="roundRect">
            <a:avLst>
              <a:gd name="adj" fmla="val 4516"/>
            </a:avLst>
          </a:prstGeom>
          <a:solidFill>
            <a:srgbClr val="1B2C3A"/>
          </a:solidFill>
          <a:ln w="9525">
            <a:solidFill>
              <a:srgbClr val="2A3B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31736" y="157276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F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|z| ≤ 2.27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41464" y="210312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C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change = pure sampling noise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0632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formula re-derived and reproduced: </a:t>
            </a:r>
            <a:pPr indent="0" marL="0">
              <a:buNone/>
            </a:pPr>
            <a:r>
              <a:rPr lang="en-US" sz="1200" dirty="0">
                <a:solidFill>
                  <a:srgbClr val="AEC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0.482 · fair multiple 15.8× · freeze 0.71/0.12/0.02 · reward exact to machine precision. Sampling error ≤0.13 pt at 150k paths.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is: </a:t>
            </a:r>
            <a:pPr indent="0" marL="0">
              <a:buNone/>
            </a:pPr>
            <a:r>
              <a:rPr lang="en-US" sz="1250" dirty="0">
                <a:solidFill>
                  <a:srgbClr val="C9D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probability engine — how likely a fall is, and how likely a recovery given a fall, with the envelope read first and every premium earned or exposed.  </a:t>
            </a:r>
            <a:pPr indent="0" marL="0">
              <a:buNone/>
            </a:pPr>
            <a:r>
              <a:rPr lang="en-US" sz="1250" b="1" dirty="0">
                <a:solidFill>
                  <a:srgbClr val="D985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isn’t: </a:t>
            </a:r>
            <a:pPr indent="0" marL="0">
              <a:buNone/>
            </a:pPr>
            <a:r>
              <a:rPr lang="en-US" sz="1250" dirty="0">
                <a:solidFill>
                  <a:srgbClr val="C9D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price target, a timing signal, or a promise.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5262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MODEL — NOT INVESTMENT ADVICE. Probabilities are frequencies over simulated futures; judgment inputs (growth, TAM, archetypes) are documented opinions the simulation sweeps.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Systemic &amp; TAM Risk Model</dc:title>
  <dc:subject>PptxGenJS Presentation</dc:subject>
  <dc:creator>Systemic + TAM Risk Model</dc:creator>
  <cp:lastModifiedBy>Systemic + TAM Risk Model</cp:lastModifiedBy>
  <cp:revision>1</cp:revision>
  <dcterms:created xsi:type="dcterms:W3CDTF">2026-06-10T02:57:43Z</dcterms:created>
  <dcterms:modified xsi:type="dcterms:W3CDTF">2026-06-10T02:57:43Z</dcterms:modified>
</cp:coreProperties>
</file>